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2" r:id="rId14"/>
    <p:sldId id="268" r:id="rId15"/>
    <p:sldId id="271" r:id="rId16"/>
    <p:sldId id="269" r:id="rId17"/>
    <p:sldId id="270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82" d="100"/>
          <a:sy n="82" d="100"/>
        </p:scale>
        <p:origin x="720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964B5-EA67-42FF-923F-309B2A35905E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2DFD6-8A9E-49EC-B2D4-D83FC7D333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1099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964B5-EA67-42FF-923F-309B2A35905E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2DFD6-8A9E-49EC-B2D4-D83FC7D333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7975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964B5-EA67-42FF-923F-309B2A35905E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2DFD6-8A9E-49EC-B2D4-D83FC7D333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23588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964B5-EA67-42FF-923F-309B2A35905E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2DFD6-8A9E-49EC-B2D4-D83FC7D333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4016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964B5-EA67-42FF-923F-309B2A35905E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2DFD6-8A9E-49EC-B2D4-D83FC7D333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89591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964B5-EA67-42FF-923F-309B2A35905E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2DFD6-8A9E-49EC-B2D4-D83FC7D333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2962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964B5-EA67-42FF-923F-309B2A35905E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2DFD6-8A9E-49EC-B2D4-D83FC7D333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04477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964B5-EA67-42FF-923F-309B2A35905E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2DFD6-8A9E-49EC-B2D4-D83FC7D333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0248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964B5-EA67-42FF-923F-309B2A35905E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2DFD6-8A9E-49EC-B2D4-D83FC7D333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4870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964B5-EA67-42FF-923F-309B2A35905E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2DFD6-8A9E-49EC-B2D4-D83FC7D333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0718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964B5-EA67-42FF-923F-309B2A35905E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2DFD6-8A9E-49EC-B2D4-D83FC7D333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64821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964B5-EA67-42FF-923F-309B2A35905E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2DFD6-8A9E-49EC-B2D4-D83FC7D33341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909427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964B5-EA67-42FF-923F-309B2A35905E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2DFD6-8A9E-49EC-B2D4-D83FC7D333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26450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964B5-EA67-42FF-923F-309B2A35905E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2DFD6-8A9E-49EC-B2D4-D83FC7D333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07705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964B5-EA67-42FF-923F-309B2A35905E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2DFD6-8A9E-49EC-B2D4-D83FC7D333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76884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964B5-EA67-42FF-923F-309B2A35905E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2DFD6-8A9E-49EC-B2D4-D83FC7D333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15502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964B5-EA67-42FF-923F-309B2A35905E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2DFD6-8A9E-49EC-B2D4-D83FC7D333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52087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AC6964B5-EA67-42FF-923F-309B2A35905E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AC92DFD6-8A9E-49EC-B2D4-D83FC7D333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457992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5E98E-CCBF-15C6-8F4D-D810C8D659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90763" y="1995487"/>
            <a:ext cx="7610474" cy="2867025"/>
          </a:xfrm>
        </p:spPr>
        <p:txBody>
          <a:bodyPr>
            <a:normAutofit/>
          </a:bodyPr>
          <a:lstStyle/>
          <a:p>
            <a:pPr algn="ctr"/>
            <a:r>
              <a:rPr lang="en-IN" sz="8000" b="1" dirty="0">
                <a:effectLst/>
              </a:rPr>
              <a:t>Adaptive Air Pressure</a:t>
            </a:r>
            <a:br>
              <a:rPr lang="en-IN" sz="8000" b="1" dirty="0">
                <a:effectLst/>
              </a:rPr>
            </a:br>
            <a:r>
              <a:rPr lang="en-IN" sz="8000" b="1" dirty="0">
                <a:effectLst/>
              </a:rPr>
              <a:t>Regulation System</a:t>
            </a:r>
            <a:endParaRPr lang="en-IN" sz="80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7775364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3E0EF-9D42-79D4-AB74-B3EE0C480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4C96E4-67D8-BB37-C695-2B4A93B253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What problem are we solving?</a:t>
            </a:r>
            <a:endParaRPr lang="en-GB" dirty="0"/>
          </a:p>
          <a:p>
            <a:r>
              <a:rPr lang="en-GB" dirty="0"/>
              <a:t>Sudden </a:t>
            </a:r>
            <a:r>
              <a:rPr lang="en-GB" b="1" dirty="0"/>
              <a:t>external pressure variations</a:t>
            </a:r>
            <a:r>
              <a:rPr lang="en-GB" dirty="0"/>
              <a:t> can cause:</a:t>
            </a:r>
          </a:p>
          <a:p>
            <a:pPr lvl="1"/>
            <a:r>
              <a:rPr lang="en-GB" dirty="0"/>
              <a:t>Ear discomfort</a:t>
            </a:r>
          </a:p>
          <a:p>
            <a:pPr lvl="1"/>
            <a:r>
              <a:rPr lang="en-GB" dirty="0"/>
              <a:t>Fatigue</a:t>
            </a:r>
          </a:p>
          <a:p>
            <a:pPr lvl="1"/>
            <a:r>
              <a:rPr lang="en-GB" dirty="0"/>
              <a:t>Reduced situational awareness</a:t>
            </a:r>
          </a:p>
          <a:p>
            <a:r>
              <a:rPr lang="en-GB" dirty="0"/>
              <a:t>Passive ear muffs cannot adapt to </a:t>
            </a:r>
            <a:r>
              <a:rPr lang="en-GB" b="1" dirty="0"/>
              <a:t>dynamic pressure changes</a:t>
            </a:r>
            <a:endParaRPr lang="en-GB" dirty="0"/>
          </a:p>
          <a:p>
            <a:r>
              <a:rPr lang="en-GB" b="1" dirty="0"/>
              <a:t>Key Challenge:</a:t>
            </a:r>
            <a:endParaRPr lang="en-GB" dirty="0"/>
          </a:p>
          <a:p>
            <a:pPr lvl="1"/>
            <a:r>
              <a:rPr lang="en-GB" dirty="0"/>
              <a:t>Maintain a safe and comfortable pressure difference between the ear cavity and the external environment.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60317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6E6C1-0D7F-9E23-8D56-7A6967693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1C240-7CE6-83EF-174E-6BAEDE954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84A276A-C8E0-43EF-7A11-5911FFF165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6799" y="1947862"/>
            <a:ext cx="4309697" cy="4136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5394DC88-2BB3-58ED-C3F6-C9AC1F69945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0258" y="1947862"/>
            <a:ext cx="5565650" cy="4136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0524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CD841-D475-481E-2305-18D62A0C5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F26BB-EA80-9969-E25B-085C2265F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Proposed Solution (System Overview)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942DA3-FF8D-FCBC-55CA-E6800AD4E0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/>
              <a:t>Solution Overview:</a:t>
            </a:r>
            <a:endParaRPr lang="en-IN" dirty="0"/>
          </a:p>
          <a:p>
            <a:r>
              <a:rPr lang="en-IN" dirty="0"/>
              <a:t>Two pressure sensors:</a:t>
            </a:r>
          </a:p>
          <a:p>
            <a:pPr lvl="1"/>
            <a:r>
              <a:rPr lang="en-IN" b="1" dirty="0"/>
              <a:t>Inside Ear Muff Sensor</a:t>
            </a:r>
            <a:endParaRPr lang="en-IN" dirty="0"/>
          </a:p>
          <a:p>
            <a:pPr lvl="1"/>
            <a:r>
              <a:rPr lang="en-IN" b="1" dirty="0"/>
              <a:t>Outside Ear Muff Sensor</a:t>
            </a:r>
            <a:endParaRPr lang="en-IN" dirty="0"/>
          </a:p>
          <a:p>
            <a:r>
              <a:rPr lang="en-IN" dirty="0"/>
              <a:t>A </a:t>
            </a:r>
            <a:r>
              <a:rPr lang="en-IN" b="1" dirty="0"/>
              <a:t>solenoid valve</a:t>
            </a:r>
            <a:r>
              <a:rPr lang="en-IN" dirty="0"/>
              <a:t> to regulate air pressure</a:t>
            </a:r>
          </a:p>
          <a:p>
            <a:r>
              <a:rPr lang="en-IN" dirty="0"/>
              <a:t>Intelligent control logic with timing control</a:t>
            </a:r>
          </a:p>
          <a:p>
            <a:r>
              <a:rPr lang="en-IN" dirty="0"/>
              <a:t>Data logging + Web-based monitoring</a:t>
            </a:r>
          </a:p>
          <a:p>
            <a:r>
              <a:rPr lang="en-IN" b="1" dirty="0"/>
              <a:t>High-level idea:</a:t>
            </a:r>
            <a:endParaRPr lang="en-IN" dirty="0"/>
          </a:p>
          <a:p>
            <a:pPr lvl="1"/>
            <a:r>
              <a:rPr lang="en-IN" dirty="0"/>
              <a:t>Continuously monitor pressure difference and regulate airflow using a solenoid valve.</a:t>
            </a:r>
          </a:p>
        </p:txBody>
      </p:sp>
    </p:spTree>
    <p:extLst>
      <p:ext uri="{BB962C8B-B14F-4D97-AF65-F5344CB8AC3E}">
        <p14:creationId xmlns:p14="http://schemas.microsoft.com/office/powerpoint/2010/main" val="18626360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596EA-5868-7A9E-5A24-4DD657204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44B50-64FB-2778-1008-CA0E93411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Hardware Components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C12581-001A-F5AD-D3EC-C209629250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dirty="0"/>
              <a:t>Main Components:</a:t>
            </a:r>
            <a:endParaRPr lang="en-IN" dirty="0"/>
          </a:p>
          <a:p>
            <a:r>
              <a:rPr lang="en-IN" dirty="0"/>
              <a:t>ESP32 Microcontroller</a:t>
            </a:r>
          </a:p>
          <a:p>
            <a:r>
              <a:rPr lang="en-IN" dirty="0"/>
              <a:t>2 × DPS310 Pressure Sensors</a:t>
            </a:r>
          </a:p>
          <a:p>
            <a:r>
              <a:rPr lang="en-IN" dirty="0"/>
              <a:t>Solenoid Valve (Air Vent)</a:t>
            </a:r>
          </a:p>
          <a:p>
            <a:r>
              <a:rPr lang="en-IN" dirty="0"/>
              <a:t>MOSFET / Driver Circuit</a:t>
            </a:r>
          </a:p>
          <a:p>
            <a:r>
              <a:rPr lang="en-IN" dirty="0"/>
              <a:t>Power Supply</a:t>
            </a:r>
          </a:p>
          <a:p>
            <a:r>
              <a:rPr lang="en-IN" dirty="0"/>
              <a:t>Ear Muff Enclosure</a:t>
            </a:r>
          </a:p>
          <a:p>
            <a:r>
              <a:rPr lang="en-IN" b="1" dirty="0"/>
              <a:t>Why DPS310?</a:t>
            </a:r>
            <a:endParaRPr lang="en-IN" dirty="0"/>
          </a:p>
          <a:p>
            <a:r>
              <a:rPr lang="en-IN" dirty="0"/>
              <a:t>High-resolution pressure sensing</a:t>
            </a:r>
          </a:p>
          <a:p>
            <a:r>
              <a:rPr lang="en-IN" dirty="0"/>
              <a:t>Suitable for small differential pressure measurement</a:t>
            </a:r>
          </a:p>
        </p:txBody>
      </p:sp>
    </p:spTree>
    <p:extLst>
      <p:ext uri="{BB962C8B-B14F-4D97-AF65-F5344CB8AC3E}">
        <p14:creationId xmlns:p14="http://schemas.microsoft.com/office/powerpoint/2010/main" val="31784446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EBADF-6C44-7D97-5893-AF4E43B20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BA957-9560-E2FF-FC0F-52289E1BD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Sensor Placement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06846B-A3B7-1166-113B-53D8702FBC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Sensor Placement:</a:t>
            </a:r>
            <a:endParaRPr lang="en-GB" dirty="0"/>
          </a:p>
          <a:p>
            <a:r>
              <a:rPr lang="en-GB" b="1" dirty="0"/>
              <a:t>Sensor 1 (Inside):</a:t>
            </a:r>
            <a:r>
              <a:rPr lang="en-GB" dirty="0"/>
              <a:t> Measures ear cavity pressure</a:t>
            </a:r>
          </a:p>
          <a:p>
            <a:r>
              <a:rPr lang="en-GB" b="1" dirty="0"/>
              <a:t>Sensor 2 (Outside):</a:t>
            </a:r>
            <a:r>
              <a:rPr lang="en-GB" dirty="0"/>
              <a:t> Measures ambient pressure</a:t>
            </a:r>
          </a:p>
          <a:p>
            <a:r>
              <a:rPr lang="en-GB" b="1" dirty="0"/>
              <a:t>Reason:</a:t>
            </a:r>
            <a:endParaRPr lang="en-GB" dirty="0"/>
          </a:p>
          <a:p>
            <a:r>
              <a:rPr lang="en-GB" dirty="0"/>
              <a:t>Enables </a:t>
            </a:r>
            <a:r>
              <a:rPr lang="en-GB" b="1" dirty="0"/>
              <a:t>differential pressure calculation</a:t>
            </a:r>
            <a:endParaRPr lang="en-GB" dirty="0"/>
          </a:p>
          <a:p>
            <a:r>
              <a:rPr lang="en-GB" dirty="0"/>
              <a:t>Eliminates false triggering due to absolute pressure drift</a:t>
            </a:r>
          </a:p>
        </p:txBody>
      </p:sp>
    </p:spTree>
    <p:extLst>
      <p:ext uri="{BB962C8B-B14F-4D97-AF65-F5344CB8AC3E}">
        <p14:creationId xmlns:p14="http://schemas.microsoft.com/office/powerpoint/2010/main" val="1539705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0A552-E2BA-8110-2261-5D5B9B7A7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3118E-2219-7214-3B88-38879E4AA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Differential Pressure Principle (Formulas)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5F97B3-567B-86F0-C208-413E68EC30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IN" b="1" dirty="0"/>
                  <a:t>Differential Pressure Calculation:</a:t>
                </a:r>
                <a:endParaRPr lang="en-IN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>
                        <a:latin typeface="Cambria Math" panose="02040503050406030204" pitchFamily="18" charset="0"/>
                      </a:rPr>
                      <m:t>Δ</m:t>
                    </m:r>
                    <m:r>
                      <a:rPr lang="el-GR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l-GR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m:rPr>
                            <m:nor/>
                          </m:rPr>
                          <a:rPr lang="en-IN" i="1"/>
                          <m:t>outside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m:rPr>
                            <m:nor/>
                          </m:rPr>
                          <a:rPr lang="en-IN" i="1"/>
                          <m:t>inside</m:t>
                        </m:r>
                      </m:sub>
                    </m:sSub>
                  </m:oMath>
                </a14:m>
                <a:endParaRPr lang="ar-AE" b="0" dirty="0"/>
              </a:p>
              <a:p>
                <a:r>
                  <a:rPr lang="en-IN" dirty="0"/>
                  <a:t>Where: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m:rPr>
                            <m:nor/>
                          </m:rPr>
                          <a:rPr lang="en-IN" i="1"/>
                          <m:t>outside</m:t>
                        </m:r>
                      </m:sub>
                    </m:sSub>
                  </m:oMath>
                </a14:m>
                <a:r>
                  <a:rPr lang="ar-AE" dirty="0"/>
                  <a:t>= </a:t>
                </a:r>
                <a:r>
                  <a:rPr lang="en-IN" dirty="0"/>
                  <a:t>External pressure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m:rPr>
                            <m:nor/>
                          </m:rPr>
                          <a:rPr lang="en-IN" i="1"/>
                          <m:t>inside</m:t>
                        </m:r>
                      </m:sub>
                    </m:sSub>
                  </m:oMath>
                </a14:m>
                <a:r>
                  <a:rPr lang="ar-AE" dirty="0"/>
                  <a:t>= </a:t>
                </a:r>
                <a:r>
                  <a:rPr lang="en-IN" dirty="0"/>
                  <a:t>Pressure inside ear muff</a:t>
                </a:r>
              </a:p>
              <a:p>
                <a:r>
                  <a:rPr lang="en-IN" b="1" dirty="0"/>
                  <a:t>Trigger Condition:</a:t>
                </a:r>
                <a:endParaRPr lang="en-IN" dirty="0"/>
              </a:p>
              <a:p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∣</m:t>
                    </m:r>
                    <m:r>
                      <m:rPr>
                        <m:sty m:val="p"/>
                      </m:rPr>
                      <a:rPr lang="el-GR">
                        <a:latin typeface="Cambria Math" panose="02040503050406030204" pitchFamily="18" charset="0"/>
                      </a:rPr>
                      <m:t>Δ</m:t>
                    </m:r>
                    <m:r>
                      <a:rPr lang="el-GR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l-GR">
                        <a:latin typeface="Cambria Math" panose="02040503050406030204" pitchFamily="18" charset="0"/>
                      </a:rPr>
                      <m:t>∣&gt;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m:rPr>
                            <m:nor/>
                          </m:rPr>
                          <a:rPr lang="en-IN" i="1"/>
                          <m:t>threshold</m:t>
                        </m:r>
                      </m:sub>
                    </m:sSub>
                  </m:oMath>
                </a14:m>
                <a:endParaRPr lang="ar-AE" b="0" dirty="0"/>
              </a:p>
              <a:p>
                <a:r>
                  <a:rPr lang="en-IN" dirty="0"/>
                  <a:t>If the threshold is crossed → </a:t>
                </a:r>
                <a:r>
                  <a:rPr lang="en-IN" b="1" dirty="0"/>
                  <a:t>Valve Actuation Starts</a:t>
                </a: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5F97B3-567B-86F0-C208-413E68EC30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05937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7E398-028D-94F0-F1BF-B8E923EB4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509E7-1BF0-98CA-FAA6-6CA4A0749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Solenoid Valve Control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D49EAD-F386-F7F5-886D-77A2538028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b="1" dirty="0"/>
              <a:t>Valve Actuation Pattern:</a:t>
            </a:r>
            <a:endParaRPr lang="en-GB" dirty="0"/>
          </a:p>
          <a:p>
            <a:r>
              <a:rPr lang="en-GB" dirty="0"/>
              <a:t>ON → 500 </a:t>
            </a:r>
            <a:r>
              <a:rPr lang="en-GB" dirty="0" err="1"/>
              <a:t>ms</a:t>
            </a:r>
            <a:endParaRPr lang="en-GB" dirty="0"/>
          </a:p>
          <a:p>
            <a:r>
              <a:rPr lang="en-GB" dirty="0"/>
              <a:t>OFF → 500 </a:t>
            </a:r>
            <a:r>
              <a:rPr lang="en-GB" dirty="0" err="1"/>
              <a:t>ms</a:t>
            </a:r>
            <a:endParaRPr lang="en-GB" dirty="0"/>
          </a:p>
          <a:p>
            <a:r>
              <a:rPr lang="en-GB" dirty="0"/>
              <a:t>ON → 500 </a:t>
            </a:r>
            <a:r>
              <a:rPr lang="en-GB" dirty="0" err="1"/>
              <a:t>ms</a:t>
            </a:r>
            <a:endParaRPr lang="en-GB" dirty="0"/>
          </a:p>
          <a:p>
            <a:r>
              <a:rPr lang="en-GB" dirty="0"/>
              <a:t>OFF → 500 </a:t>
            </a:r>
            <a:r>
              <a:rPr lang="en-GB" dirty="0" err="1"/>
              <a:t>ms</a:t>
            </a:r>
            <a:endParaRPr lang="en-GB" dirty="0"/>
          </a:p>
          <a:p>
            <a:r>
              <a:rPr lang="en-GB" dirty="0"/>
              <a:t>Then </a:t>
            </a:r>
            <a:r>
              <a:rPr lang="en-GB" b="1" dirty="0"/>
              <a:t>rest period</a:t>
            </a:r>
            <a:r>
              <a:rPr lang="en-GB" dirty="0"/>
              <a:t>: 5–15 seconds (user-defined)</a:t>
            </a:r>
          </a:p>
          <a:p>
            <a:r>
              <a:rPr lang="en-GB" b="1" dirty="0"/>
              <a:t>Purpose:</a:t>
            </a:r>
            <a:endParaRPr lang="en-GB" dirty="0"/>
          </a:p>
          <a:p>
            <a:r>
              <a:rPr lang="en-GB" dirty="0"/>
              <a:t>Gradual pressure equalization</a:t>
            </a:r>
          </a:p>
          <a:p>
            <a:r>
              <a:rPr lang="en-GB" dirty="0"/>
              <a:t>Prevents sudden air bursts</a:t>
            </a:r>
          </a:p>
          <a:p>
            <a:r>
              <a:rPr lang="en-GB" dirty="0"/>
              <a:t>Reduces mechanical wear</a:t>
            </a:r>
          </a:p>
        </p:txBody>
      </p:sp>
    </p:spTree>
    <p:extLst>
      <p:ext uri="{BB962C8B-B14F-4D97-AF65-F5344CB8AC3E}">
        <p14:creationId xmlns:p14="http://schemas.microsoft.com/office/powerpoint/2010/main" val="16870543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59403-E455-FC8A-B811-DF67770B1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56A8C-49EE-3070-F61E-82C416D0F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Timing Diagram (Formula-Based Explanation)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439964-E4DA-8997-5A11-F9AF863823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IN" b="1" dirty="0"/>
                  <a:t>Total Active Time:</a:t>
                </a:r>
                <a:endParaRPr lang="en-IN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m:rPr>
                            <m:nor/>
                          </m:rPr>
                          <a:rPr lang="en-IN" i="1"/>
                          <m:t>active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4</m:t>
                    </m:r>
                    <m:r>
                      <a:rPr lang="ar-AE">
                        <a:latin typeface="Cambria Math" panose="02040503050406030204" pitchFamily="18" charset="0"/>
                      </a:rPr>
                      <m:t>×</m:t>
                    </m:r>
                    <m:r>
                      <a:rPr lang="ar-AE">
                        <a:latin typeface="Cambria Math" panose="02040503050406030204" pitchFamily="18" charset="0"/>
                      </a:rPr>
                      <m:t>500</m:t>
                    </m:r>
                    <m:r>
                      <m:rPr>
                        <m:nor/>
                      </m:rPr>
                      <a:rPr lang="ar-AE" i="1"/>
                      <m:t> </m:t>
                    </m:r>
                    <m:r>
                      <m:rPr>
                        <m:nor/>
                      </m:rPr>
                      <a:rPr lang="en-IN" i="1"/>
                      <m:t>ms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>
                        <a:latin typeface="Cambria Math" panose="02040503050406030204" pitchFamily="18" charset="0"/>
                      </a:rPr>
                      <m:t>2000</m:t>
                    </m:r>
                    <m:r>
                      <m:rPr>
                        <m:nor/>
                      </m:rPr>
                      <a:rPr lang="en-IN" i="1"/>
                      <m:t> </m:t>
                    </m:r>
                    <m:r>
                      <m:rPr>
                        <m:nor/>
                      </m:rPr>
                      <a:rPr lang="en-IN" i="1"/>
                      <m:t>ms</m:t>
                    </m:r>
                  </m:oMath>
                </a14:m>
                <a:endParaRPr lang="en-IN" b="0" dirty="0"/>
              </a:p>
              <a:p>
                <a:r>
                  <a:rPr lang="en-IN" b="1" dirty="0"/>
                  <a:t>Total Cycle Time:</a:t>
                </a:r>
                <a:endParaRPr lang="en-IN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m:rPr>
                            <m:nor/>
                          </m:rPr>
                          <a:rPr lang="en-IN" i="1"/>
                          <m:t>cycle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m:rPr>
                            <m:nor/>
                          </m:rPr>
                          <a:rPr lang="en-IN" i="1"/>
                          <m:t>active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m:rPr>
                            <m:nor/>
                          </m:rPr>
                          <a:rPr lang="en-IN" i="1"/>
                          <m:t>wait</m:t>
                        </m:r>
                      </m:sub>
                    </m:sSub>
                  </m:oMath>
                </a14:m>
                <a:endParaRPr lang="ar-AE" b="0" dirty="0"/>
              </a:p>
              <a:p>
                <a:r>
                  <a:rPr lang="en-IN" dirty="0"/>
                  <a:t>Where: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m:rPr>
                            <m:nor/>
                          </m:rPr>
                          <a:rPr lang="en-IN" i="1"/>
                          <m:t>wait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15</m:t>
                        </m:r>
                      </m:e>
                    </m:d>
                  </m:oMath>
                </a14:m>
                <a:r>
                  <a:rPr lang="en-IN" dirty="0"/>
                  <a:t>seconds (user configurable)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439964-E4DA-8997-5A11-F9AF863823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71755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102D1-9861-A4E7-A966-862F3AE9A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E3F0B-8115-C00B-E91B-6ECECA619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Firmware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67B5A6-C5C0-C713-A54A-EE26D88D5B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Software Modules:</a:t>
            </a:r>
            <a:endParaRPr lang="en-IN" dirty="0"/>
          </a:p>
          <a:p>
            <a:r>
              <a:rPr lang="en-IN" dirty="0"/>
              <a:t>Sensor Interface (I²C)</a:t>
            </a:r>
          </a:p>
          <a:p>
            <a:r>
              <a:rPr lang="en-IN" dirty="0"/>
              <a:t>Baseline Calibration</a:t>
            </a:r>
          </a:p>
          <a:p>
            <a:r>
              <a:rPr lang="en-IN" dirty="0"/>
              <a:t>Differential Pressure Logic</a:t>
            </a:r>
          </a:p>
          <a:p>
            <a:r>
              <a:rPr lang="en-IN" dirty="0"/>
              <a:t>Valve FSM (Finite State Machine)</a:t>
            </a:r>
          </a:p>
          <a:p>
            <a:r>
              <a:rPr lang="en-IN" dirty="0"/>
              <a:t>SPIFFS File System</a:t>
            </a:r>
          </a:p>
          <a:p>
            <a:r>
              <a:rPr lang="en-IN" dirty="0"/>
              <a:t>Async Web Server</a:t>
            </a:r>
          </a:p>
        </p:txBody>
      </p:sp>
    </p:spTree>
    <p:extLst>
      <p:ext uri="{BB962C8B-B14F-4D97-AF65-F5344CB8AC3E}">
        <p14:creationId xmlns:p14="http://schemas.microsoft.com/office/powerpoint/2010/main" val="37642180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C3E71-5165-0B10-1B3A-E1AE303B8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8268F-4668-BD17-69F3-B21DE94AB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Valve Finite State Machine (FSM)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AF72E0-6A32-0888-5C82-8281E0D2E4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b="1" dirty="0"/>
              <a:t>FSM States:</a:t>
            </a:r>
            <a:endParaRPr lang="en-GB" dirty="0"/>
          </a:p>
          <a:p>
            <a:r>
              <a:rPr lang="en-GB" dirty="0"/>
              <a:t>IDLE</a:t>
            </a:r>
          </a:p>
          <a:p>
            <a:r>
              <a:rPr lang="en-GB" dirty="0"/>
              <a:t>VALVE_ON</a:t>
            </a:r>
          </a:p>
          <a:p>
            <a:r>
              <a:rPr lang="en-GB" dirty="0"/>
              <a:t>VALVE_OFF</a:t>
            </a:r>
          </a:p>
          <a:p>
            <a:r>
              <a:rPr lang="en-GB" dirty="0"/>
              <a:t>WAIT</a:t>
            </a:r>
          </a:p>
          <a:p>
            <a:r>
              <a:rPr lang="en-GB" b="1" dirty="0"/>
              <a:t>State Transition Logic:</a:t>
            </a:r>
            <a:endParaRPr lang="en-GB" dirty="0"/>
          </a:p>
          <a:p>
            <a:r>
              <a:rPr lang="en-GB" dirty="0"/>
              <a:t>Based on:</a:t>
            </a:r>
          </a:p>
          <a:p>
            <a:pPr lvl="1"/>
            <a:r>
              <a:rPr lang="en-GB" dirty="0"/>
              <a:t>Time elapsed</a:t>
            </a:r>
          </a:p>
          <a:p>
            <a:pPr lvl="1"/>
            <a:r>
              <a:rPr lang="en-GB" dirty="0"/>
              <a:t>Pressure difference</a:t>
            </a:r>
          </a:p>
          <a:p>
            <a:pPr lvl="1"/>
            <a:r>
              <a:rPr lang="en-GB" dirty="0"/>
              <a:t>User-defined delay</a:t>
            </a:r>
          </a:p>
        </p:txBody>
      </p:sp>
    </p:spTree>
    <p:extLst>
      <p:ext uri="{BB962C8B-B14F-4D97-AF65-F5344CB8AC3E}">
        <p14:creationId xmlns:p14="http://schemas.microsoft.com/office/powerpoint/2010/main" val="40602863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DEC02-E9D3-110C-D3EB-5B6F74B52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D1F67-55B4-8C58-DE86-EF4B338D5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Data Logging using SPIFFS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F5E295-3F95-FD14-58F7-36FB5E9256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/>
              <a:t>Why SPIFFS?</a:t>
            </a:r>
            <a:endParaRPr lang="en-IN" dirty="0"/>
          </a:p>
          <a:p>
            <a:r>
              <a:rPr lang="en-IN" dirty="0"/>
              <a:t>Lightweight flash-based file system</a:t>
            </a:r>
          </a:p>
          <a:p>
            <a:r>
              <a:rPr lang="en-IN" dirty="0"/>
              <a:t>No external storage required</a:t>
            </a:r>
          </a:p>
          <a:p>
            <a:r>
              <a:rPr lang="en-IN" b="1" dirty="0"/>
              <a:t>Stored Data (CSV):</a:t>
            </a:r>
            <a:endParaRPr lang="en-IN" dirty="0"/>
          </a:p>
          <a:p>
            <a:pPr lvl="1"/>
            <a:r>
              <a:rPr lang="en-IN" dirty="0"/>
              <a:t>Timestamp, </a:t>
            </a:r>
            <a:r>
              <a:rPr lang="en-IN" dirty="0" err="1"/>
              <a:t>P_inside</a:t>
            </a:r>
            <a:r>
              <a:rPr lang="en-IN" dirty="0"/>
              <a:t>, </a:t>
            </a:r>
            <a:r>
              <a:rPr lang="en-IN" dirty="0" err="1"/>
              <a:t>P_outside</a:t>
            </a:r>
            <a:r>
              <a:rPr lang="en-IN" dirty="0"/>
              <a:t>, </a:t>
            </a:r>
            <a:r>
              <a:rPr lang="en-IN" dirty="0" err="1"/>
              <a:t>Delta_P</a:t>
            </a:r>
            <a:r>
              <a:rPr lang="en-IN" dirty="0"/>
              <a:t>, </a:t>
            </a:r>
            <a:r>
              <a:rPr lang="en-IN" dirty="0" err="1"/>
              <a:t>Delay_Time</a:t>
            </a:r>
            <a:r>
              <a:rPr lang="en-IN" dirty="0"/>
              <a:t>, Feedback</a:t>
            </a:r>
          </a:p>
          <a:p>
            <a:r>
              <a:rPr lang="en-IN" b="1" dirty="0"/>
              <a:t>Advantages:</a:t>
            </a:r>
            <a:endParaRPr lang="en-IN" dirty="0"/>
          </a:p>
          <a:p>
            <a:r>
              <a:rPr lang="en-IN" dirty="0"/>
              <a:t>Post-analysis</a:t>
            </a:r>
          </a:p>
          <a:p>
            <a:r>
              <a:rPr lang="en-IN" dirty="0"/>
              <a:t>Debugging</a:t>
            </a:r>
          </a:p>
          <a:p>
            <a:r>
              <a:rPr lang="en-IN" dirty="0"/>
              <a:t>Performance evaluation</a:t>
            </a:r>
          </a:p>
        </p:txBody>
      </p:sp>
    </p:spTree>
    <p:extLst>
      <p:ext uri="{BB962C8B-B14F-4D97-AF65-F5344CB8AC3E}">
        <p14:creationId xmlns:p14="http://schemas.microsoft.com/office/powerpoint/2010/main" val="1671478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03E6DD-92B4-2903-5270-D33E5873B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92E7F-06E3-F031-B7E6-7CAB4B274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Data Logging using SPIFFS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13057AB-49E2-922C-F7A5-AF75C0C2A8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32007" y="1825625"/>
            <a:ext cx="361056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9460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AD8A3-E2B3-8B24-DC55-B0FF9C5DD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059F2-6177-02EF-0EBB-806222EAD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Web Server &amp;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B7ABBE-0634-5054-AF83-EAFCE603BE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ESP32 Web Server Features:</a:t>
            </a:r>
            <a:endParaRPr lang="en-IN" dirty="0"/>
          </a:p>
          <a:p>
            <a:r>
              <a:rPr lang="en-IN" dirty="0"/>
              <a:t>Real-time pressure display</a:t>
            </a:r>
          </a:p>
          <a:p>
            <a:r>
              <a:rPr lang="en-IN" dirty="0"/>
              <a:t>Valve status</a:t>
            </a:r>
          </a:p>
          <a:p>
            <a:r>
              <a:rPr lang="en-IN" dirty="0"/>
              <a:t>User configuration:</a:t>
            </a:r>
          </a:p>
          <a:p>
            <a:pPr lvl="1"/>
            <a:r>
              <a:rPr lang="en-IN" dirty="0"/>
              <a:t>Threshold</a:t>
            </a:r>
          </a:p>
          <a:p>
            <a:pPr lvl="1"/>
            <a:r>
              <a:rPr lang="en-IN" dirty="0"/>
              <a:t>Wait time</a:t>
            </a:r>
          </a:p>
          <a:p>
            <a:r>
              <a:rPr lang="en-IN" b="1" dirty="0"/>
              <a:t>Technologies Used:</a:t>
            </a:r>
            <a:endParaRPr lang="en-IN" dirty="0"/>
          </a:p>
          <a:p>
            <a:r>
              <a:rPr lang="en-IN" dirty="0"/>
              <a:t>Async Web Server</a:t>
            </a:r>
          </a:p>
          <a:p>
            <a:r>
              <a:rPr lang="en-IN" dirty="0"/>
              <a:t>HTML, CSS, JavaScript</a:t>
            </a:r>
          </a:p>
        </p:txBody>
      </p:sp>
    </p:spTree>
    <p:extLst>
      <p:ext uri="{BB962C8B-B14F-4D97-AF65-F5344CB8AC3E}">
        <p14:creationId xmlns:p14="http://schemas.microsoft.com/office/powerpoint/2010/main" val="38084633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8B4DA-0037-2A6A-6661-EC5EABE47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4CD52-46A0-0A1F-7E9C-AC6255474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Web Server &amp; Dashboard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0DD6658-699E-6629-DCF9-FA16D44122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06970" y="1687553"/>
            <a:ext cx="8578059" cy="4805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5968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3E9ED-C317-7650-4029-87FA6DAAD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3A55E-084B-7469-9DD1-4E615E5FB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152F6-D84C-F729-3B55-A1A14D2D5F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Potential Use Cases:</a:t>
            </a:r>
            <a:endParaRPr lang="en-GB" dirty="0"/>
          </a:p>
          <a:p>
            <a:r>
              <a:rPr lang="en-GB" dirty="0"/>
              <a:t>Industrial safety ear protection</a:t>
            </a:r>
          </a:p>
          <a:p>
            <a:r>
              <a:rPr lang="en-GB" dirty="0"/>
              <a:t>Pilots &amp; aviation ground crew</a:t>
            </a:r>
          </a:p>
          <a:p>
            <a:r>
              <a:rPr lang="en-GB" dirty="0"/>
              <a:t>Construction sites</a:t>
            </a:r>
          </a:p>
          <a:p>
            <a:r>
              <a:rPr lang="en-GB" dirty="0"/>
              <a:t>Research labs</a:t>
            </a:r>
          </a:p>
        </p:txBody>
      </p:sp>
    </p:spTree>
    <p:extLst>
      <p:ext uri="{BB962C8B-B14F-4D97-AF65-F5344CB8AC3E}">
        <p14:creationId xmlns:p14="http://schemas.microsoft.com/office/powerpoint/2010/main" val="2199971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74531-46BE-B008-D0A6-3D07807E7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85F31-7881-8EC1-F21E-1B4B03734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Conclusion &amp; 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7B1C3-BCC9-747B-1785-5DF083389D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/>
              <a:t>Conclusion:</a:t>
            </a:r>
            <a:endParaRPr lang="en-IN" dirty="0"/>
          </a:p>
          <a:p>
            <a:r>
              <a:rPr lang="en-IN" dirty="0"/>
              <a:t>Intelligent ear protection system</a:t>
            </a:r>
          </a:p>
          <a:p>
            <a:r>
              <a:rPr lang="en-IN" dirty="0"/>
              <a:t>Combines sensing, actuation, and web monitoring</a:t>
            </a:r>
          </a:p>
          <a:p>
            <a:r>
              <a:rPr lang="en-IN" dirty="0"/>
              <a:t>Adaptive &amp; configurable</a:t>
            </a:r>
          </a:p>
          <a:p>
            <a:r>
              <a:rPr lang="en-IN" b="1" dirty="0"/>
              <a:t>Future Enhancements:</a:t>
            </a:r>
            <a:endParaRPr lang="en-IN" dirty="0"/>
          </a:p>
          <a:p>
            <a:r>
              <a:rPr lang="en-IN" dirty="0"/>
              <a:t>Closed-loop PID control</a:t>
            </a:r>
          </a:p>
          <a:p>
            <a:r>
              <a:rPr lang="en-IN" dirty="0"/>
              <a:t>Mobile app integration</a:t>
            </a:r>
          </a:p>
          <a:p>
            <a:r>
              <a:rPr lang="en-IN" dirty="0"/>
              <a:t>Miniaturization</a:t>
            </a:r>
          </a:p>
          <a:p>
            <a:r>
              <a:rPr lang="en-IN" dirty="0"/>
              <a:t>ML-based pressure prediction</a:t>
            </a:r>
          </a:p>
        </p:txBody>
      </p:sp>
    </p:spTree>
    <p:extLst>
      <p:ext uri="{BB962C8B-B14F-4D97-AF65-F5344CB8AC3E}">
        <p14:creationId xmlns:p14="http://schemas.microsoft.com/office/powerpoint/2010/main" val="2243813668"/>
      </p:ext>
    </p:extLst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Depth</Template>
  <TotalTime>397</TotalTime>
  <Words>509</Words>
  <Application>Microsoft Office PowerPoint</Application>
  <PresentationFormat>Widescreen</PresentationFormat>
  <Paragraphs>123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Cambria Math</vt:lpstr>
      <vt:lpstr>Corbel</vt:lpstr>
      <vt:lpstr>Depth</vt:lpstr>
      <vt:lpstr>Adaptive Air Pressure Regulation System</vt:lpstr>
      <vt:lpstr>Problem Statement</vt:lpstr>
      <vt:lpstr>Problem Statement</vt:lpstr>
      <vt:lpstr>Proposed Solution (System Overview)</vt:lpstr>
      <vt:lpstr>Hardware Components</vt:lpstr>
      <vt:lpstr>Sensor Placement Strategy</vt:lpstr>
      <vt:lpstr>Differential Pressure Principle (Formulas)</vt:lpstr>
      <vt:lpstr>Solenoid Valve Control Logic</vt:lpstr>
      <vt:lpstr>Timing Diagram (Formula-Based Explanation)</vt:lpstr>
      <vt:lpstr>Firmware Architecture</vt:lpstr>
      <vt:lpstr>Valve Finite State Machine (FSM)</vt:lpstr>
      <vt:lpstr>Data Logging using SPIFFS</vt:lpstr>
      <vt:lpstr>Data Logging using SPIFFS</vt:lpstr>
      <vt:lpstr>Web Server &amp; Dashboard</vt:lpstr>
      <vt:lpstr>Web Server &amp; Dashboard</vt:lpstr>
      <vt:lpstr>Applications</vt:lpstr>
      <vt:lpstr>Conclusion &amp; Future Scope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VIRAJ DHRUVE -70022300374</dc:creator>
  <cp:lastModifiedBy>VIRAJ DHRUVE -70022300374</cp:lastModifiedBy>
  <cp:revision>2</cp:revision>
  <dcterms:created xsi:type="dcterms:W3CDTF">2026-01-19T06:01:39Z</dcterms:created>
  <dcterms:modified xsi:type="dcterms:W3CDTF">2026-01-19T13:49:14Z</dcterms:modified>
</cp:coreProperties>
</file>